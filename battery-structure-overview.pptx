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61a5c01224416" /><Relationship Type="http://schemas.openxmlformats.org/officeDocument/2006/relationships/extended-properties" Target="/docProps/app.xml" Id="R9af0cec62d9b4834" /><Relationship Type="http://schemas.openxmlformats.org/officeDocument/2006/relationships/officeDocument" Target="/ppt/presentation.xml" Id="R81f3ea99142c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23e80a1fb465a"/>
  </p:sldMasterIdLst>
  <p:notesMasterIdLst>
    <p:notesMasterId xmlns:r="http://schemas.openxmlformats.org/officeDocument/2006/relationships" r:id="R534be0843ccb47a4"/>
  </p:notesMasterIdLst>
  <p:sldIdLst>
    <p:sldId xmlns:r="http://schemas.openxmlformats.org/officeDocument/2006/relationships" id="256" r:id="R7eaba69797704b65"/>
    <p:sldId xmlns:r="http://schemas.openxmlformats.org/officeDocument/2006/relationships" id="257" r:id="R87bb9baab8084f8c"/>
    <p:sldId xmlns:r="http://schemas.openxmlformats.org/officeDocument/2006/relationships" id="258" r:id="R0023c83ce4f54e4e"/>
    <p:sldId xmlns:r="http://schemas.openxmlformats.org/officeDocument/2006/relationships" id="259" r:id="R392076b2c9824688"/>
    <p:sldId xmlns:r="http://schemas.openxmlformats.org/officeDocument/2006/relationships" id="260" r:id="R2ec7fac245ed45e2"/>
    <p:sldId xmlns:r="http://schemas.openxmlformats.org/officeDocument/2006/relationships" id="261" r:id="R92cfd2da53e24746"/>
    <p:sldId xmlns:r="http://schemas.openxmlformats.org/officeDocument/2006/relationships" id="262" r:id="R6c1c4d7dd0584ab8"/>
    <p:sldId xmlns:r="http://schemas.openxmlformats.org/officeDocument/2006/relationships" id="263" r:id="Rbd59cc50975b45c7"/>
    <p:sldId xmlns:r="http://schemas.openxmlformats.org/officeDocument/2006/relationships" id="264" r:id="R136abb2a1a6a429d"/>
    <p:sldId xmlns:r="http://schemas.openxmlformats.org/officeDocument/2006/relationships" id="265" r:id="R0f24c100cd504e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d6f4d723d4f2b" /><Relationship Type="http://schemas.openxmlformats.org/officeDocument/2006/relationships/slideMaster" Target="/ppt/slideMasters/slideMaster1.xml" Id="R33f23e80a1fb465a" /><Relationship Type="http://schemas.openxmlformats.org/officeDocument/2006/relationships/notesMaster" Target="/ppt/notesMasters/notesMaster1.xml" Id="R534be0843ccb47a4" /><Relationship Type="http://schemas.openxmlformats.org/officeDocument/2006/relationships/presProps" Target="/ppt/presProps.xml" Id="R4029e3f073734cda" /><Relationship Type="http://schemas.openxmlformats.org/officeDocument/2006/relationships/viewProps" Target="/ppt/viewProps.xml" Id="R0cf7f8c5b34745c4" /><Relationship Type="http://schemas.openxmlformats.org/officeDocument/2006/relationships/tableStyles" Target="/ppt/tableStyles.xml" Id="R6eea182a206d426d" /><Relationship Type="http://schemas.openxmlformats.org/officeDocument/2006/relationships/slide" Target="/ppt/slides/slide1.xml" Id="R7eaba69797704b65" /><Relationship Type="http://schemas.openxmlformats.org/officeDocument/2006/relationships/slide" Target="/ppt/slides/slide2.xml" Id="R87bb9baab8084f8c" /><Relationship Type="http://schemas.openxmlformats.org/officeDocument/2006/relationships/slide" Target="/ppt/slides/slide3.xml" Id="R0023c83ce4f54e4e" /><Relationship Type="http://schemas.openxmlformats.org/officeDocument/2006/relationships/slide" Target="/ppt/slides/slide4.xml" Id="R392076b2c9824688" /><Relationship Type="http://schemas.openxmlformats.org/officeDocument/2006/relationships/slide" Target="/ppt/slides/slide5.xml" Id="R2ec7fac245ed45e2" /><Relationship Type="http://schemas.openxmlformats.org/officeDocument/2006/relationships/slide" Target="/ppt/slides/slide6.xml" Id="R92cfd2da53e24746" /><Relationship Type="http://schemas.openxmlformats.org/officeDocument/2006/relationships/slide" Target="/ppt/slides/slide7.xml" Id="R6c1c4d7dd0584ab8" /><Relationship Type="http://schemas.openxmlformats.org/officeDocument/2006/relationships/slide" Target="/ppt/slides/slide8.xml" Id="Rbd59cc50975b45c7" /><Relationship Type="http://schemas.openxmlformats.org/officeDocument/2006/relationships/slide" Target="/ppt/slides/slide9.xml" Id="R136abb2a1a6a429d" /><Relationship Type="http://schemas.openxmlformats.org/officeDocument/2006/relationships/slide" Target="/ppt/slides/slide10.xml" Id="R0f24c100cd504e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64f203c57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d2c05508a4d69" /><Relationship Type="http://schemas.openxmlformats.org/officeDocument/2006/relationships/notesMaster" Target="/ppt/notesMasters/notesMaster1.xml" Id="Racf847a2004b49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0dfd8d274b4d62" /><Relationship Type="http://schemas.openxmlformats.org/officeDocument/2006/relationships/notesMaster" Target="/ppt/notesMasters/notesMaster1.xml" Id="Rbb39a203aa3c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c9b7f62164b2a" /><Relationship Type="http://schemas.openxmlformats.org/officeDocument/2006/relationships/notesMaster" Target="/ppt/notesMasters/notesMaster1.xml" Id="R055bb2aea723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af0adf9078458e" /><Relationship Type="http://schemas.openxmlformats.org/officeDocument/2006/relationships/notesMaster" Target="/ppt/notesMasters/notesMaster1.xml" Id="Rac6894d579d94c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842c5e06a4e84" /><Relationship Type="http://schemas.openxmlformats.org/officeDocument/2006/relationships/notesMaster" Target="/ppt/notesMasters/notesMaster1.xml" Id="R520447e7355e4e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063148dd448b2" /><Relationship Type="http://schemas.openxmlformats.org/officeDocument/2006/relationships/notesMaster" Target="/ppt/notesMasters/notesMaster1.xml" Id="Rae072f0139364c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66820e5eee4112" /><Relationship Type="http://schemas.openxmlformats.org/officeDocument/2006/relationships/notesMaster" Target="/ppt/notesMasters/notesMaster1.xml" Id="Rbace088f9d2a4b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b89e95d3ab49c6" /><Relationship Type="http://schemas.openxmlformats.org/officeDocument/2006/relationships/notesMaster" Target="/ppt/notesMasters/notesMaster1.xml" Id="Re4cec1e9fa0d4d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31105723204b9d" /><Relationship Type="http://schemas.openxmlformats.org/officeDocument/2006/relationships/notesMaster" Target="/ppt/notesMasters/notesMaster1.xml" Id="R0c8713d1032f41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0543d3c7854b00" /><Relationship Type="http://schemas.openxmlformats.org/officeDocument/2006/relationships/notesMaster" Target="/ppt/notesMasters/notesMaster1.xml" Id="Re269ff2dba3a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14e5ed148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ed3fd35b64f51" /><Relationship Type="http://schemas.openxmlformats.org/officeDocument/2006/relationships/slideLayout" Target="/ppt/slideLayouts/slideLayout1.xml" Id="R75d3e996b02a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3e996b02a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85ab9125b4f96" /><Relationship Type="http://schemas.openxmlformats.org/officeDocument/2006/relationships/notesSlide" Target="/ppt/notesSlides/notesSlide1.xml" Id="R3cb79310894a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77a608954de4" /><Relationship Type="http://schemas.openxmlformats.org/officeDocument/2006/relationships/notesSlide" Target="/ppt/notesSlides/notesSlide2.xml" Id="Rf22b8a0da3ec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2054acf1543a3" /><Relationship Type="http://schemas.openxmlformats.org/officeDocument/2006/relationships/notesSlide" Target="/ppt/notesSlides/notesSlide3.xml" Id="R239954ca8c83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c9dbc2fc94220" /><Relationship Type="http://schemas.openxmlformats.org/officeDocument/2006/relationships/notesSlide" Target="/ppt/notesSlides/notesSlide4.xml" Id="Rc9632b4b0328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76405b6941c4" /><Relationship Type="http://schemas.openxmlformats.org/officeDocument/2006/relationships/notesSlide" Target="/ppt/notesSlides/notesSlide5.xml" Id="Ra3539fee2865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a44e0d8a2476e" /><Relationship Type="http://schemas.openxmlformats.org/officeDocument/2006/relationships/notesSlide" Target="/ppt/notesSlides/notesSlide6.xml" Id="R83e7b456ae57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f6c65e94d4483" /><Relationship Type="http://schemas.openxmlformats.org/officeDocument/2006/relationships/notesSlide" Target="/ppt/notesSlides/notesSlide7.xml" Id="Rca45ef347d2c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50086b8304dbd" /><Relationship Type="http://schemas.openxmlformats.org/officeDocument/2006/relationships/notesSlide" Target="/ppt/notesSlides/notesSlide8.xml" Id="Radbae450132948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cf63586924840" /><Relationship Type="http://schemas.openxmlformats.org/officeDocument/2006/relationships/notesSlide" Target="/ppt/notesSlides/notesSlide9.xml" Id="R1481a7e4228c44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280768ef04bb9" /><Relationship Type="http://schemas.openxmlformats.org/officeDocument/2006/relationships/notesSlide" Target="/ppt/notesSlides/notesSlide10.xml" Id="Rcbe874d7140e49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5CB60-A486-4EA9-9B06-7095A47B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BATTERY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15038-4DEF-4FA6-9251-3893B9F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AAB1A-3904-47AA-9EA0-0C6895B7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锂离子与钠离子电池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303B3-BE10-4C4E-86B7-B9C3DCA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结构组成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ABA07-1B9C-4534-BE6D-2F72911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LFP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E50E9-3CB2-4F4A-AF5D-B8D90FDC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磷酸铁锂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56B7B-3D01-4786-8156-F2C3E1BF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NMC/NCA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86B80-6697-4619-B862-6E9E1E8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三元锂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505A1-E793-4701-A74F-0D9925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圆柱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5EB7D-3A3E-45C3-8D7D-0204574A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18650/21700/4680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86FB6-78AD-4A6C-8079-4F260E24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5DA43-1997-4A17-A373-C4571E2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VDA/刀片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393F8-ADF0-443E-9B88-2E4EC45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B25FC-6174-4789-99F0-A568B244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新兴路线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F95B5-D3F7-4A7A-ACDF-F1DDC1A6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数据截至 2025 年主流商用型号  |  结构与参数仅供参考</a:t>
            </a:r>
          </a:p>
        </p:txBody>
      </p:sp>
    </p:spTree>
    <p:extLst>
      <p:ext uri="{BB962C8B-B14F-4D97-AF65-F5344CB8AC3E}">
        <p14:creationId xmlns:p14="http://schemas.microsoft.com/office/powerpoint/2010/main" val="160078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1A9E2-DBCB-484F-89B6-8F76CEF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A7C7-BD62-4144-B381-56C2165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28E0D-FBD8-4A65-B55D-5E6D9A26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五大核心组件构成一个完整电芯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599EC-7131-46BC-A0D3-64C396A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4844F-EBC4-4453-A262-9BFF2CF5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9612-2144-4C74-A308-1FF24D8C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正极 (Cathode)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09D04-AF43-4049-847B-58DEC78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LiCoO₂ / LiFePO₄ / NMC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31326-41CD-4622-BC10-B0045E16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4CA07-7257-4C66-8BD6-3D928579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3E2E5-7128-4446-A75C-E3B9FB6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负极 (Anode)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E4671-83B5-49EF-AD17-B6EE07D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石墨 / 硅碳复合材料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D395C-DF55-4A48-AD6D-3B58851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C1789-9D86-4E97-8115-1F5A869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6BE38-368A-405A-8ACE-35BFCA6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电解质 (Electrolyte)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988AF-F684-43EB-A53D-BDA6C05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LiPF₆ + 有机溶剂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13C18-4C51-429B-BEAD-4C48799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C0DAC-8CDC-4B96-979F-3AF767C0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20C2F-B09D-4059-BC5E-AA05E8C6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隔膜 (Separator)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FF3A7-7EBE-4126-9CBB-2970A4CC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PE/PP 多层复合膜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AC1EC-C70F-44E0-906F-B62D1613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17A49-1621-4061-8CAA-FDBD22DE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D6B55-26BD-44B0-850B-353A40D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壳体 (Casing)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37E6F-99E0-4E2C-A064-BA7A40D6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钢壳 / 铝壳 / 铝塑膜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D0121-64FC-44C7-8CF4-D7204828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2DDA3-FA17-45C2-B9BC-82C37BB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电芯工作原理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01A90-A21E-4CA8-8F78-18F135B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充电：Li⁺ 从正极脱出，经由电解质穿过隔膜嵌入负极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C7BF4-991F-41EF-A38C-CE2800C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放电：Li⁺ 从负极脱出，经由电解质穿过隔膜回到正极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3B8FD4-1F98-4462-86B7-28C3B2CF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隔膜：物理隔离正负极，防止短路，同时允许 Li⁺ 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3B58C-B968-466A-9627-5F1C289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电解质：提供离子传导通道，不参与电子传导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082C2-CF59-4DE2-A211-858B602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壳体：封装与保护，影响散热与机械安全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B0EF1-7BA9-4AE3-A6D5-A9C432FE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 充电方向    ← 放电方向</a:t>
            </a:r>
          </a:p>
        </p:txBody>
      </p:sp>
    </p:spTree>
    <p:extLst>
      <p:ext uri="{BB962C8B-B14F-4D97-AF65-F5344CB8AC3E}">
        <p14:creationId xmlns:p14="http://schemas.microsoft.com/office/powerpoint/2010/main" val="18870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39408-2AD1-4819-93AD-E141291A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LFP CATHODE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88803-B3DE-4A5D-8F7C-56CADFB6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626D-A7CB-4B37-ACA2-992A3E11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安全与寿命优先的正极路线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F7587-9AA5-47E0-A2E9-8120E686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能量密度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65523-FCE1-4B2E-A0A4-B454A60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AAB38-1887-483B-AFAE-573C84A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0B4D6-30A5-409E-8AA2-253BC03D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140–180 Wh/kg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DF121-E9C8-4048-A40B-D49F458E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循环寿命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4B40A-29E8-4ABD-8FAC-50289E14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E69AA-5ADD-4A98-AC15-5868112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88C50-797D-4AB2-97AE-D9DDF6D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3,000–10,000+ 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15076-0865-451A-848D-07FCD62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热稳定性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F1491-95FC-4681-BC2C-C861A6AF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D7F40-2EB6-4152-B37D-1795C36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C999-08CA-4E86-8CCF-C70062DD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≥ 500°C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906CA-CD4F-4539-92F5-3691FBBB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61181-C472-484D-B521-B2FC45E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31918-1620-46F3-BBD8-61B96F2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66650-3B50-4D2C-A498-38FF1C8B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低 (≈ 0.50 元/Wh)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05997-66CF-4338-ACD8-6415A1FB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导电性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03754-5A89-4058-91E3-DCCF217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64882-7C46-4E1D-9F70-15AC7E24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37A18-8DD1-4CFD-9EC1-E288308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低 (需碳包覆)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2A087-8D1C-491D-8F87-EFA9CC39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862A5-20F0-4131-82E8-B81337C4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典型型号参考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E1C7B-39A5-404A-AC30-0F07C05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厂商/型号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D2BDF-A58C-43FE-BFC3-A5621BEA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封装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514D5-0F44-4042-9757-C874F32C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容量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48F9B-3300-45FA-8A3A-A4DB45D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4409A0-177A-4EEB-AA64-E6C5708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宁德时代 LFP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724EA-0E69-4072-BDD0-F4281692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F5351-BAEC-4D7F-A75F-DC8ED926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280 Ah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5734E4-BF87-4FDE-94CB-E0C94A6F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储能/商用车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5AAD9-659B-45E2-9164-E69185B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比亚迪 刀片电池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378CA-8AF3-4AFA-911E-26F10947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方壳刀片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B9ECF-8989-4BF6-9FBC-697A899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138 Ah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263C5-4025-447D-84F3-FF464BA9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9189A-48C6-4F6F-AD8F-3EE3A81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国软高科 LFP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1A884-4411-4F49-8CE5-B2FB51C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31E196-4604-47C7-9ABD-726F3789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75 Ah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BCBC0F-E78A-4590-A5DD-8BC42900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乘用车/储能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47CEF4-325F-49AD-883B-F9D15F57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亿纬锂能 LFP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4FA76-AFD9-4763-95A1-CBC3A08E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圆柱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34CCCE-550D-4ADB-85CA-5DD88EB4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50 Ah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B3B20A-44E0-401C-986D-FEB6A980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两轮车/储能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27D88D-7749-415E-BE51-C0E4E44C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远东电池 4680 LFP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BF351F-4593-4946-A6DC-5F32766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圆柱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B039CD-5F9F-4931-A661-50A327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26 Ah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3C0F50-8675-4CF7-9DA3-A4D6B86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电动工具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600626-B955-4DA6-A389-1DB1CA1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✓ 优势：安全性高、寿命长、成本低、无毒环保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13DBB8-91EC-4040-998D-3DB09735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717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7171"/>
                </a:solidFill>
                <a:latin typeface="Aptos"/>
                <a:ea typeface="Aptos"/>
                <a:cs typeface="Aptos"/>
              </a:rPr>
              <a:t>✗ 局限：能量密度偏低、低温性能差、导电性需提升</a:t>
            </a:r>
          </a:p>
        </p:txBody>
      </p:sp>
    </p:spTree>
    <p:extLst>
      <p:ext uri="{BB962C8B-B14F-4D97-AF65-F5344CB8AC3E}">
        <p14:creationId xmlns:p14="http://schemas.microsoft.com/office/powerpoint/2010/main" val="1017749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A67C9-B120-430D-B2C8-219CECF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NMC / NCA CATHODE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CC908-1E57-4CAE-B091-0A2C996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93846-8D27-49E2-8414-0746657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能量密度驱动的正极路线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FE571-0EE8-43C1-8456-B8A16AB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能量密度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EDEE0-F19C-4637-BA95-C9198B5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2CA61-0CD6-4270-BC42-78C92DCD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38ED2-454F-4B2C-B964-25237DB1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180–260 Wh/kg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83D33-AC1C-45D6-83ED-72B9DD5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循环寿命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62A97-EA42-4894-BD7D-D2FE1FB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F79F2-339C-42DC-8728-2FBBE0F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241A5-0C2C-4CD1-BCCD-8F82D70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1,000–3,000 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76F04-F92D-47BA-9869-EE4B7E72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热稳定性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E2E1-E256-409B-84F5-1D13CB8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C303A-B079-4F25-B167-187896A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CC6F6-CCBA-43F3-A000-7D9EBA5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200–280°C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1B778-1EEF-44CD-96B5-C9EC1D1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4936B-A384-4669-9B68-C83D40C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4C210-ED39-48C4-9406-4B7CE3B9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5656D-6510-434F-8DDB-5683DA8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较高 (≈ 0.75 元/Wh)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0C678-42EB-4482-A31C-C9AE3D9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导电性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25343-0BDF-4DEA-B313-749BAFA2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AA8A9-EA07-4AD3-9AB8-1853722A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07E84-CFF0-4D72-8136-AB3623A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优异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3B311-6BD3-41BA-80F8-F31774E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0EA59-EEF8-4D65-9167-AADEB08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NMC vs NCA 对比 + 典型型号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034BB-807F-4338-BC93-E3CCEA6F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NMC (Ni:Mn:Co): 811/622/532 系列，平衡能量密度与成本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90A760-F876-4B20-AA69-B99848C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NCA (LiNi₀.₈Co₀.₁₅Al₀.₅O₂): Tesla 优先选型，能量密度领先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81378-1CB0-4D25-83C4-52F5F11C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厂商/型号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8234F-2931-4286-959C-1E303155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封装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5ED1B-A255-493C-90CA-8E60EF1A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容量/能量密度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1C91D-B351-43FC-A597-AD3F999E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861BD-F74B-436A-B3D6-FBB16F6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860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宁德时代 NMC 811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95993-8130-422B-9E85-D310A6F5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C9CC2-28CE-4562-A66B-362B06A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860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255 Wh/kg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6FDA9-1097-48EF-B147-B75CB460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860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高端乘用车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F47A84-7300-4DB9-86C7-1142709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松下 NCA 21700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8E489-5377-4D10-9FD3-5602C2B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圆柱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86FC6-FBB8-4804-9F94-F6A3F07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260 Wh/kg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7A8AD6-FF31-481A-9808-C217FD59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33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Tesla Model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B5685-0B4B-40AD-AFBB-A70C46F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LGES NCMA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E81004-D276-4635-ACF0-0156DD18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7D15E6-281B-452D-9CFB-4546E6F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81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250 Wh/kg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A816F-A8AE-4087-B357-65FFCEBF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81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GM/现代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5B8429-0168-4352-804D-B7EBCE4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290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三星 SDI NMC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2C0627-66FB-4752-B872-1BD68A5D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方壳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AA7D7C-4A97-4A45-B146-740CE56B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240 Wh/kg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64C5F8-3450-4BB7-A208-EC7BE9D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BMW/奥迪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FE589A-7C4C-4FDE-99BC-2B83C802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76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SK On NMC 811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C66491-3794-435E-BFC7-EDBD7510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软包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64EA45-80A8-4800-821E-C832761F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76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245 Wh/kg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AC72CC-28A2-4EA2-8E06-8E0A34D5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76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现代/福特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3B93AF-ABEF-4E33-8C0B-45D7F7F5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✓ 优势：高能量密度、良好导电性、快充性能好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7A8F62-532F-4DBC-9244-CB1ED3D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00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717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7171"/>
                </a:solidFill>
                <a:latin typeface="Aptos"/>
                <a:ea typeface="Aptos"/>
                <a:cs typeface="Aptos"/>
              </a:rPr>
              <a:t>✗ 局限：热稳定性差、钴依赖、成本较高</a:t>
            </a:r>
          </a:p>
        </p:txBody>
      </p:sp>
    </p:spTree>
    <p:extLst>
      <p:ext uri="{BB962C8B-B14F-4D97-AF65-F5344CB8AC3E}">
        <p14:creationId xmlns:p14="http://schemas.microsoft.com/office/powerpoint/2010/main" val="867805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4D767-DCAB-48F2-88FA-84DEC40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CYLINDRICAL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1AAF0-7392-46BF-895D-BAFE4E4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F88EB-4516-4985-AB40-45198B8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标准化卷绕形态，兼顾散热与一致性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ADF66-ADC9-4C80-BEEB-8A9DE73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18757-3BD4-4FA2-BA25-B399B9E2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圆柱电芯结构（卷绕式）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291BD-443B-4B8C-ABDC-CA8D5D51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65DD2-80B0-468E-B36A-AD7CF6A8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极芯（卷绕体）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7A8FB-BE74-43B5-A23C-8B324C8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正极 + 隔膜 + 负极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3C178-9528-4C74-BD63-E8A814A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D8BFE-5CC0-470F-9479-D6A57D2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电解液浸润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B1D4A-992F-4074-AEB9-32C06FC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LiPF₆ 溶液填充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21FF6-8CE5-4BA0-841E-47465DB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E812E-0B19-4652-B19F-D9EA490C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安全阀 / CID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F80BB-A7D1-400C-A8A3-1D907391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过热/过压保护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5A28F-0F6A-472A-B7F5-182FB7B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74D5B-03BF-40DC-8769-C2EA96D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钢壳外壳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D9223-30F6-481C-A41F-62980D8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镀镍钢壳 + 密封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51FE2-F665-4D45-9222-400C8F3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BEEEF-CDCD-41DA-9043-EAA91F4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绝缘环 / 盖板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8AF3F-EFC4-43B6-A0C8-73FC508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正负极引出端子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3B333-A529-4592-B53B-406F4502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ABE1A-3FB2-46A4-AA1E-61E5398D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典型型号与规格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BD779-22A7-4859-99B0-8028B625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型号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3E149-2BC9-4AB0-BAAC-0DCE471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尺寸(×H mm)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2744F-A87D-4CC1-A19C-5DF785D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容量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6E1FB5-91DA-4DA9-BC22-919DC17E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代表应用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B1B19-D6AD-4710-B298-031BD090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18650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7FFE2-75B5-4D9E-94BB-167BEE8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18 × 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125D4-1366-44E6-BE89-BDFB3C4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2.5–3.5 Ah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5980-860E-4EC5-ADF9-38FD16BC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笔记本/电动工具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90AC8-ED16-4BF7-AE36-2E4D5F0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21700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59AE4-36F6-4CE8-B4DF-A3F5E07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21 × 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B66B9-818E-4CD8-A780-9143AB6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4.0–5.0 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FFFB76-9D39-406B-A846-7B9FEF5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Tesla Model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D5224-CB0A-4958-9190-BC59FDB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4680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FC01F1-EF4C-40A4-88BB-ED282E6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46 × 80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6888A-1336-4A32-A052-34D6639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22–26 Ah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A8E106-2E09-4CB3-9E0A-9737C9C1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Tesla Model 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FC9EA8-1644-482C-B0CB-FE1AA0F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26650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A3D3F8-664D-4E0E-8B9D-A0FEB25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26 × 65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ACA98-70FA-4D4E-9913-A99E0145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3.2–3.8 Ah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BA7FF9-D397-473C-884B-3070BD1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电动工具/储能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3DDE96-688E-41FA-929C-C7DC74D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32700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BC0A64-BED8-415A-AB28-F47FD9DD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32 × 70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B225C7-1B8C-4443-B6BE-BC16D36A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5.0–6.0 Ah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7FB349-0406-4517-BEFA-C409B3E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两轮车/储能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A0F62B-AAEF-4608-864E-9F4B3974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4680 无极耳设计 (Tabless)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8F5624-635A-4092-9E88-9ED66159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极耳宽度等于电芯高度，电子传输路径缩短，内阻降低 5×，产热大幅减少，支持 4C+ 快充</a:t>
            </a:r>
          </a:p>
        </p:txBody>
      </p:sp>
    </p:spTree>
    <p:extLst>
      <p:ext uri="{BB962C8B-B14F-4D97-AF65-F5344CB8AC3E}">
        <p14:creationId xmlns:p14="http://schemas.microsoft.com/office/powerpoint/2010/main" val="1895689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6FDEF-ABC6-407B-81D5-47B1824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PRISMATIC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248D4-F298-4642-AE1C-CCBFCCF8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9BA83-985F-4605-B2D8-85A50F9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空间利用率最高的主流封装形态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EEDB2-AC5F-49F7-863E-0604629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7A6CC-A2B9-41F7-BC22-37626989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方壳电芯结构（叠片/卷绕均可）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79703-3E16-4F14-ABE8-4E37DB4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0A4A4-F9E7-46A0-87C0-719D8AA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极组（叠片/卷绕）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1AF0F-29D4-4FAA-ACD2-9084284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正极片 + 隔膜 + 负极片交替堆叠或卷绕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EC47D-9083-4BAF-B32C-5C20670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44443-FCBF-45F0-B7A0-5AA304B6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极耳（铝/镍带）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3D20E-9310-4120-B48A-F8542B4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从极组引出，焊接至盖板端子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F1985-FD1C-47CD-A81C-7BAA035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C36B2-686A-4F6C-86E6-E70006E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电解液灌注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2B133-0EEC-43BB-9A43-150B18C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真空注液确保润湿性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FA12C-AB19-4187-8FF4-6DFA3E8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C9986-5350-469A-85EE-616CA52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铝壳/钢壳体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0D46-0E80-4E81-9290-EB0350E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铝合金或不锈钢壳体 + 盖板激光焊接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86081-5219-4A7B-9067-C7B3AD6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AB99C-D583-487C-B914-E56FE9FD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防爆阀 / 注液孔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2C3CE-8951-48D1-A383-C08EC636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安全泄压 + 电解液注入口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35338-2EAB-43D5-B729-99AF24C0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5764D-6ADF-41A2-ACF1-64391B04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典型型号与规格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008DA-8B27-4046-8AC3-E7D876F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厂商/型号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8D4B9-E712-4ACD-B4C9-69DC0C3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正极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33551-4C22-4B7F-98A9-81120A9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容量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D5A18-484A-4E2B-ACF4-9BD65E7F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1CE536-939F-4733-A539-5F64B33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宁德时代 LFP 280Ah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D2345-A6B0-417E-88F7-A66CA5EC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LFP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17A47-9E1E-49E3-85C5-1D0FE98E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280 Ah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7D27E-635E-4D43-8224-AB92D7D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0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储能/商用车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E52DC-1DB5-4C95-AFA7-D0C9A82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宁德时代 NMC 75Ah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1E9E81-EE04-47C1-A640-5B2750B3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CD03BC-832E-49CA-A358-324E727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75 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9F4D5-E03C-4CCA-85C5-1C80ED08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4473D-A4B8-480B-8C4E-2C770A6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比亚迪 刀片电池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C907E9-007A-4739-B48C-9371698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LFP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BEC875-D0B6-4AAA-803A-073095C3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138 Ah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09634-440F-41BE-B6CE-997EAB5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乘用车(CTP)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F869A0-40FA-4569-B223-A2FDAA8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中创新航 NMC 86Ah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663B45-3715-4057-92B6-A08EB02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D0BB62-3FE2-46A8-BEB6-144CB93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86 Ah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9B3C08-72D6-4F35-9AF7-122CF46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AF6C79-8869-4EA2-8AF5-0A18E8E9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国软高科 LFP 75Ah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BFCE55-C860-4D3C-8A89-4180557A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LFP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DA9C36-9CFD-4372-BA79-57A5174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75 Ah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A05858-5EDE-4CDF-AFC3-9A42EF78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乘用车/储能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CBB2A-1EA6-4B6F-A977-CFF7AF3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刀片电池 (Blade Battery)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5A8167-D8A4-44C5-8D1A-61D56F7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长条形方壳，厚度仅 13.5mm，直接作为结构件，省去模组层级，空间利用率提升 ≥ 50%，针刺安全过关</a:t>
            </a:r>
          </a:p>
        </p:txBody>
      </p:sp>
    </p:spTree>
    <p:extLst>
      <p:ext uri="{BB962C8B-B14F-4D97-AF65-F5344CB8AC3E}">
        <p14:creationId xmlns:p14="http://schemas.microsoft.com/office/powerpoint/2010/main" val="1347495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97E2F-3B80-4673-95A3-3B093618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POUCH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9847D-00F6-4BB8-89AE-905AAE2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6F015-9C9A-4E9B-8E83-45D8DF8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铝塑膜封装，更高能量密度与灵活设计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1426-3B34-486E-8D6B-88A4B37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9E82B-FE8C-417E-BC7C-2466640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软包电芯结构（叠片式为主）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49591-2E40-487E-8E92-A86D4D01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E323D-7445-4FDE-862F-6397E00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极组（叠片式）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2B07D-A608-4814-93F5-8DBABF2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正极/隔膜/负极单片交替堆叠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717FF-B844-4468-8B7A-7290D66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3EF5E-85EB-419C-B2C7-0A10CC63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极耳（铝/镍）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D0FCC-BF34-491A-99D8-FE9D58B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两侧引出，超声波焊接至铝塑膜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08BC3-363E-4165-B2C2-3B4D87A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5D986-567F-47A6-9DC9-CF36F3A6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电解液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5C93C-780C-4F99-B947-26018737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真空注液后封口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DB37F-8AD4-4FD5-8585-56140534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0DC4B-BDCA-415F-954E-B3B0534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铝塑膜封装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2BE7F-5314-40B7-83B8-290ED482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外层尼龙 + 中层铝箔 + 内层PP 三层复合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DE492-ABC7-4C1E-B3C9-31D7FD9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AD37E-AF4F-4859-9BAF-12E58CF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顶封/侧封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F9A4E-66C1-4C58-8E3A-457C8F2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热封 + 折边工艺保证密封性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D2F9E-1F04-4F34-BA50-D54D6811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5F4C9-4628-4229-AA9E-C3AA92D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规格对比与典型型号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329F9-CE9A-4238-ABD6-0CD2655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厂商/型号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335C4-A228-4AC6-B2D6-FE5512F8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正极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752AE-EA24-4872-A87E-614677F5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容量/厚度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C1985-16BA-4742-B824-7E418F15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41E29-5D9E-4FD9-BF98-A5355F8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LGES NCMA 软包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7B402-B8DD-47CF-8893-BA495F2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D52C8-34CA-4693-A003-0C9F1C0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37 Ah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86EAB-F2D3-453F-9FCE-713A757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GM Ultium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641D4-EA4E-4315-93DD-FEA0715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SK On NMC 软包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D48FCB-07B7-4190-823B-B568ED0A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70502-55FE-4B5E-A260-7ED9CA8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75 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B416F3-4C35-44E1-A369-F04929D8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现代/福特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EB4B3-36A1-4FD9-A1F5-C504499A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远景 AESC 软包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8D37C6-A42E-48B3-8A3D-C1A6C992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09749F-1426-4E84-B085-764835D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52 Ah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F818F1-5908-4B12-B8D3-6499425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日产 Leaf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A2C43B-7683-4644-BBE9-7444B04E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孚能科技 软包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28D4EA-8795-4C6B-AE7E-99EFBD42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NMC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480FD0-DC76-4AB9-AB92-81F8C51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28–75 Ah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988722-2B73-4161-8277-154084A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戴姆勒/广汽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DF2FDC-9782-43D5-9FF9-F4E4671D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✓ 优势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5A2DAC-62DB-484A-8E44-283B812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能量密度最高（无刚性壳体重量）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5452BF-6964-408C-AD5C-48B126D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形状灵活，可定制厚度与尺寸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6F5894-7DE9-449D-968F-30A977E5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重量轻，成组效率高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31A562-5013-4D39-BF8F-A5B3CF2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71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7171"/>
                </a:solidFill>
                <a:latin typeface="Aptos"/>
                <a:ea typeface="Aptos"/>
                <a:cs typeface="Aptos"/>
              </a:rPr>
              <a:t>✗ 局限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5F3160-369D-4899-9BCF-9CE7C3E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机械强度低，需额外模组/电池包保护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130E8-6DFA-4F12-A5A6-1E06F44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72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密封性依赖热封工艺一致性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0DB2DA-716B-49E6-A7D8-7C6AE79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006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胀气风险需设计泄压通道</a:t>
            </a:r>
          </a:p>
        </p:txBody>
      </p:sp>
    </p:spTree>
    <p:extLst>
      <p:ext uri="{BB962C8B-B14F-4D97-AF65-F5344CB8AC3E}">
        <p14:creationId xmlns:p14="http://schemas.microsoft.com/office/powerpoint/2010/main" val="1920580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CF381-40F7-49E7-8E15-295CCB6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SODIUM-ION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E0698-66CD-4652-BF59-56B2C25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20166-C9DE-4619-BECD-4AD94EC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钠电以成本与资源优势在储能与低速场景突破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C0107-749A-46E3-90AA-E46C6FE1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1D4F-F06D-4D11-85D9-B7501C40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钠电关键组件 vs 锂电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F3A3F-0509-4572-9FBD-731F510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61BA-1178-428A-ABD2-6CCD739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478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锂电典型方案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E28EF-8BCE-4E11-84E1-379CB9F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钠电典型方案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520C5-7F2E-48E9-AB80-BCEA7BAC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1AF92-8AD6-443D-9A1B-8A4E81CE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正极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51B15-1F2F-4355-A107-5BFCEFF0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LFP/NMC/NCA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2BA7D-C0BE-4199-AF30-B534579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NaCrO₂/层状氧化物/Na₃V₂(PO₄)₃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6C541-0CA0-4964-B050-24411A8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3D77F-A48B-41DC-AB67-D66884C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负极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C86F8-873A-4197-8B11-7E11C1DE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石墨/硅碳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8DAE-9596-42D1-BB62-6688BC6C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硬碳/软碳/无定形碳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02ABE-1386-49F6-8378-3088182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41D0D-CBE7-4AA9-A1A2-2337FB97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电解质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1BB5B-F587-4570-B549-827B3458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24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LiPF₆ + 磷酸酯溶剂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040B1-6190-4343-9A88-AA02C6DF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NaPF₆/NaClO₄ + 磷酸酯/醒溶剂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2CF90-12A8-43C8-B5B9-9DB5FBC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C5E7E-6C99-4B69-9C2C-2F19357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隔膜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12B9E-F884-4195-8A83-8A856C3A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PE/PP 多层膜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A4B25-BB02-4805-9EF3-4905B04B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95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纳米纤维涂覆 PP 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C9701-24CD-431C-B85F-E9F225C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B1E43-9B5A-4697-95B0-39DFDDA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集流器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A8570-518A-4E15-8852-9B37547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148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 箔 (负极集流)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A0167-15C6-4653-863F-AC3CB93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14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Al 箔 (负极可用铝箔)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F8A9D-2667-4CCE-B5AB-D57F05D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15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DE43B-F69D-4E82-95A0-F36E79ED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钠电典型产品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B7D449-68C4-4205-9AAC-B05D0BB8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厂商/型号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D97A3-F0EA-4FDD-A11E-1B9C58F3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正极路线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67660-0A1D-4114-854F-A0FD143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能量密度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47DB7-44A1-4EC3-A152-6EBB252A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47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80217-BDE3-4CA5-883A-83527C1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宁德时代 钠电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632CA-3E54-4707-8780-87F2EEC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层状氧化物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6286A-6510-4165-92BA-82E1455C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160 Wh/kg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D9227-DA1B-4113-856E-D74758A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336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两轮车/储能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3247F-EEDA-498D-ADA1-86FBEF29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812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中科海钠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781518-147C-4C8A-ACD4-A5A3F93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812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层状氧化物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8BA909-CF43-4DE6-8D39-5923461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812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145 Wh/kg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E8E85-F65F-46EE-B9A6-7231FBC7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812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低速车/储能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1DA1D8-E82D-4A8A-8EE4-F4D335F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孚能科技 钠电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5D306C-F0DE-433B-80AC-F6052A14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Na₃V₂(PO₄)₃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46EDD5-F1D1-42E9-866F-B4C8F958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289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120 Wh/kg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9EF170-6793-41BB-BB0F-3057750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289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储能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2CF365-6BF7-4438-A248-3465073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765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蜂巢能源 钠电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02984F-8A5A-4993-8B14-0989E01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层状氧化物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75F9AD-D6AD-4E50-8AED-03F9FBB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155 Wh/kg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639604-768A-494F-BBF2-DBA694B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765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乘用车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E1533E-AC9D-4F5F-995B-98A3054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242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维科技术 钠电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10784B-2C40-4E02-A768-77644697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242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层状/聚阴离子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903346-9881-4DDD-9EDB-E5B40921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130 Wh/kg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D197E7-4AF2-450B-BEDE-5164E65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42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两轮车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8C154B-9F74-4A3D-B311-19B8045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✓ 钠资源丰富、成本低、低温性能优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932AD6-0922-4C80-AFC6-ACF258ED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71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7171"/>
                </a:solidFill>
                <a:latin typeface="Aptos"/>
                <a:ea typeface="Aptos"/>
                <a:cs typeface="Aptos"/>
              </a:rPr>
              <a:t>✗ 能量密度偏低（120–160 Wh/kg）、循环寿命待提升</a:t>
            </a:r>
          </a:p>
        </p:txBody>
      </p:sp>
    </p:spTree>
    <p:extLst>
      <p:ext uri="{BB962C8B-B14F-4D97-AF65-F5344CB8AC3E}">
        <p14:creationId xmlns:p14="http://schemas.microsoft.com/office/powerpoint/2010/main" val="79894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76D58-8062-4055-937E-9DB9E894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17E2-4EE5-436D-8886-6E37B77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8A218-055C-4E28-A3BF-C845FF2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锂电 vs 钠电：材料体系与性能边界显著不同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33824-D19F-45BD-8288-F6C92816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5C"/>
          </a:solidFill>
          <a:ln xmlns:a="http://schemas.openxmlformats.org/drawingml/2006/main" w="0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73A13-534A-4FFD-B6E3-B9E395E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对比项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C2F85-2BFD-4E89-98F2-97DD2715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锂离子电池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7F2BF-9DE4-466E-AE24-A8108D8C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钠离子电池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321B9-F1C1-46D8-B81C-7AD1B5F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优势方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B1352-5D74-4513-B41C-D1945FB3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3ADA2-877D-46A6-BEAA-26544187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正极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03549-D0F7-4A77-8716-0BE835A2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335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LFP/NMC/NCA，成熟多余年产业链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4A7B2-0198-4033-AB85-C5C7B05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NaCrO₂/层状氧化物/聚阴离子，产业化早期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B0CD1-5CF1-4227-B87A-5BA9CE48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各有优势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D54D-C5C3-4B20-93F8-760DB3F6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负极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43681-3698-4093-8A2D-2E8A2292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石墨/硅碳，需铜箔集流器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7115D-5504-4BB9-81E4-26941F84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硬碳/无定形碳，可用铝箔替代铜箔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AF853-D9F6-4BCB-866B-EF450E4F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B5B9C-C770-414C-BECC-6B21FE52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86A42-4A40-440C-818D-08ED366F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能量密度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D7665-0731-4883-8479-E54EA6D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146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140–260 Wh/kg，含 LFP–NCA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DBC25-BC47-4B95-AADF-D4D4AC4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120–160 Wh/kg，初步产业化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78A00-986A-49A1-A2C2-15330838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337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锂电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EAF7F-7D5C-4D84-A482-1A1BDB6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循环寿命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33555-1A43-4F4C-A859-774F5794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1,000–10,000+ 次，LFP寿命突出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CAA0B-656E-49CF-B282-13F7CA0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2,000–5,000 次，持续改进中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034F5-6837-4326-B59E-F9D36715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242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锂电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8350E-EDCB-4E81-A561-742B96FD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48F51-8041-45F9-B743-FC8D733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低温性能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2D750-3E9D-42E6-970F-29F12CC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-20°C 显著衰减，LFP尤其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21291-E7A5-40EB-8849-1F5DF54C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-40°C 依然工作，低温优势明显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8FE0C-0D25-4391-87C6-380D0DF5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148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7E75F-B6D1-40AC-8561-D863B39F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成本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79A04-C310-450D-AB02-4EB9DBAF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863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≈ 0.50–0.75 元/Wh，钴资源依赖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8FC17-384F-4708-8B6F-18B63C26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≈ 0.30–0.45 元/Wh，钠资源丰富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D28C5B-38D7-4A7B-9415-A54A55F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A00DD-1D97-40B3-AADB-0F07C79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40"/>
          </a:solidFill>
          <a:ln xmlns:a="http://schemas.openxmlformats.org/drawingml/2006/main" w="0">
            <a:solidFill>
              <a:srgbClr val="1E244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1CBA95-4D1D-45F6-ACDD-A8710A43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安全性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D48E91-99D3-479B-AD40-89D00AF0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热失控风险存在，需严格BMS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DDCFBC-2C4D-4C62-97C4-0DE4BC2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热稳定性更优，空气中不燃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1A321A-D5F0-4E7E-9628-81D9771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959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B8A6"/>
                </a:solidFill>
                <a:latin typeface="Aptos"/>
                <a:ea typeface="Aptos"/>
                <a:cs typeface="Aptos"/>
              </a:rPr>
              <a:t>钠电</a:t>
            </a:r>
          </a:p>
        </p:txBody>
      </p:sp>
    </p:spTree>
    <p:extLst>
      <p:ext uri="{BB962C8B-B14F-4D97-AF65-F5344CB8AC3E}">
        <p14:creationId xmlns:p14="http://schemas.microsoft.com/office/powerpoint/2010/main" val="620700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F81C2-6438-4AAE-8624-D6546AD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65BF9-0B47-4D7B-A2E4-F4C7940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03C29-41B7-4E2E-9850-43849EC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多技术路线并行演进，场景匹配决定选型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005E-A98D-4400-9C61-994EB84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524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70CA0-6F79-45D6-AE7A-AB3CF98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79E54-E6E2-4CB6-B5FD-19FF27C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高能量密度路线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303DF-C044-4E89-A366-91E3A5F9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NMC/NCA 三元锂电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3179D-8699-4FFD-8CC1-3866643D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圆柱/方壳/软包多封装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4F2BE-E75C-49CE-8B68-3F5E5226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应用：高端乘用车、储能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2A4EB-C1B3-41C3-9905-02A88AC2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趋势：高镍低钴、硅碳负极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228F2-5612-442A-BEB2-190036D7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524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0AB8E-97E5-44BC-945D-25158434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A2B29-982D-4801-B431-243B60D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安全与经济路线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0525E-51D2-4B0E-BBD6-DF86420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LFP 磷酸铁锂路线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8CBFF-43BB-44F7-8690-A7ACE8B4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方壳（刀片）为主流封装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733F4-C74D-461F-82E9-BC42337D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应用：商用车、储能、两轮车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F1A5A-F2AB-493F-980F-8009B1A3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趋势：CTP/CTC 结构创新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9FCA8-3744-432F-A6F1-52B9D9A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524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48"/>
          </a:solidFill>
          <a:ln xmlns:a="http://schemas.openxmlformats.org/drawingml/2006/main" w="9525">
            <a:solidFill>
              <a:srgbClr val="333A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3046F-ABFE-4D20-8105-8E888016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FDB2A-C605-48D3-88B5-23D0D4F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新兴低成本路线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759A3-E890-4E24-921C-059C61A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钠离子电池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54169-74B2-4152-B371-EE56B53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方壳/圆柱封装均可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30B73-1019-41C2-B6FA-5C618D24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应用：低速车、储能、两轮车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BCF1B-7801-44E5-89C1-9415034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• 趋势：能量密度持续提升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B58FB-AEDE-4601-9276-4FBC319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关键趋势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B36F9-3262-4633-922F-FE738B7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1. CTP/CTC/CTB 结构创新：去模组化、电池车身一体化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D0EF6-16B9-4309-BFB9-5408C8CA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2. 高镍低钴：NMC 811 → NCMA/M4L 向无钴迈进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E9ED3-02DD-49AC-B296-4372B1A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3. 固态电池：半固态逐步量产，全固态仍有材料挑战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15588B-A3AC-4629-926E-20A01F97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D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5"/>
                </a:solidFill>
                <a:latin typeface="Aptos"/>
                <a:ea typeface="Aptos"/>
                <a:cs typeface="Aptos"/>
              </a:rPr>
              <a:t>4. 钠电池加速：从实验室走向百兆瓦时级储能项目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03B62-61E1-4D4E-8EDD-95F6428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数据截至 2025 年主流商用型号  |  结构与参数仅供参考</a:t>
            </a:r>
          </a:p>
        </p:txBody>
      </p:sp>
    </p:spTree>
    <p:extLst>
      <p:ext uri="{BB962C8B-B14F-4D97-AF65-F5344CB8AC3E}">
        <p14:creationId xmlns:p14="http://schemas.microsoft.com/office/powerpoint/2010/main" val="1615863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2026-06-14T11:52:28.9690000Z</dcterms:created>
  <dcterms:modified xsi:type="dcterms:W3CDTF">2026-06-14T11:52:28.9690000Z</dcterms:modified>
</coreProperties>
</file>